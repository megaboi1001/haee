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-18288"/>
            <a:ext cx="12234672" cy="6894576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234672" cy="548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AAD2"/>
                </a:solidFill>
                <a:latin typeface="Calibri"/>
              </a:rPr>
              <a:t>PRD · AWS ARCHITECTURE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HMSG WEC 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900" b="0" i="0">
                <a:solidFill>
                  <a:srgbClr val="D8E4F0"/>
                </a:solidFill>
                <a:latin typeface="Calibri"/>
              </a:rPr>
              <a:t>Windows MSSQL host · AWS Client VPN (SAML / Entra ID) · Site-to-Site VPN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eu-central-1 · Frankfurt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6576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Stack hmsg-rac-prd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3657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Week 1 deliverable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FB4C8"/>
                </a:solidFill>
                <a:latin typeface="Calibri"/>
              </a:rPr>
              <a:t>Prepared by the HAEE Cloud Team · 19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2821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088" y="216712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0008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78024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088" y="2916936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5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27832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088" y="3666744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849624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77639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088" y="4416552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599432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27448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7088" y="5166360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088" y="591616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01 ·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Scope of this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One Windows Server 2022 EC2 instance — m7i.2xlarge (8 vCPU / 32 GiB)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Root 250 GB + data 4 TB (D: · NTFS · 64K) — SQL Server installed by the client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No public IP and no internet egress on the DB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Private access only: Client VPN for developers, optional Site-to-Site VPN for on-prem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Client-side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Microsoft Entra ID Enterprise Application (SAML federation)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Entra ID Federation Metadata XML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CustomerGatewayIp + OnPremCidr (enables the Site-to-Site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SQL Server installation on the EC2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VPN user management after handover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1234440"/>
          </a:xfrm>
          <a:prstGeom prst="roundRect">
            <a:avLst>
              <a:gd name="adj" fmla="val 9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138928"/>
            <a:ext cx="106984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Constraints &amp;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49824"/>
            <a:ext cx="10698480" cy="7772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VPC 172.200.0.0/24 is not RFC1918 private space — confirm with the client, or deploy with 172.20.0.0/24 instead.</a:t>
            </a:r>
          </a:p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Up to 10 developers access via Client VPN · Entra ID MFA is the client tenant's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02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0360" y="1371600"/>
            <a:ext cx="6355080" cy="45262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9050">
            <a:solidFill>
              <a:srgbClr val="002C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426464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02C5F"/>
                </a:solidFill>
                <a:latin typeface="Calibri"/>
              </a:rPr>
              <a:t>AWS Cloud · VPC hmsg-rac-prd-vpc-ec1 — 172.200.0.0/24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4708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200253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PUBLIC · pub-ec1a / pub-ec1c — NAT gateway + Elastic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7004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AF6EA"/>
          </a:solidFill>
          <a:ln w="12700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282549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PRIVATE · pri-ec1a / pri-ec1c — Client VPN target networks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9300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364845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DB · db-ec1a / db-ec1c — MSSQL host (m7i.2xlarge)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4590288"/>
            <a:ext cx="6035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VPC interface endpoints (Secrets Manager · SSM · SSM Messages · EC2 Messages)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Secrets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144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9048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CloudWatch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6952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S3 — flow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5468112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Flow logs → S3 (lifecycle 30d → Glacier, expire 1y) · Client VPN logs → CloudWatch (90d)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55480" y="2377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487168"/>
            <a:ext cx="2103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On-prem racing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788920"/>
            <a:ext cx="2103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Hyundai firewall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IPsec.1 · static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3035808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VGW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55480" y="2862072"/>
            <a:ext cx="155448" cy="292608"/>
          </a:xfrm>
          <a:prstGeom prst="line">
            <a:avLst/>
          </a:prstGeom>
          <a:ln w="22225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64040" y="342900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Site-to-Site VPN</a:t>
            </a:r>
          </a:p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only when on-prem values are supplied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192024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0299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Developers (≤10)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3317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Entra ID SSO · MFA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2918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015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703320"/>
            <a:ext cx="17830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UDP 443 · SAML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split tunnel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63040" y="2743200"/>
            <a:ext cx="0" cy="548640"/>
          </a:xfrm>
          <a:prstGeom prst="line">
            <a:avLst/>
          </a:prstGeom>
          <a:ln w="22225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468880" y="2999232"/>
            <a:ext cx="594360" cy="795528"/>
          </a:xfrm>
          <a:prstGeom prst="line">
            <a:avLst/>
          </a:prstGeom>
          <a:ln w="25400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600200" y="3611880"/>
            <a:ext cx="1554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UDP 443</a:t>
            </a:r>
          </a:p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SAML SSO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03 ·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Client VPN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UDP 443 in — 0.0.0.0/0 (endpoint must be reachable)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egress 3389 / 1433 → VPC CIDR (tunnel traffic)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Common SG — RDP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3389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1500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959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MSSQL SG — 1433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1433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VPC endpoint SG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443 in — VPC CIDR only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Response traffic to endpoint ENIs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201168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10607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EC2 hardening &amp;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224528"/>
            <a:ext cx="10607040" cy="1417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EC2: IMDSv2 required · EBS volumes encrypted · no public IP · termination protected (DeletionPolicy: Retain)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Windows Firewall: RDP 3389 and MSSQL 1433 pre-opened (SQL Server installed later by the client)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Data volume D: formatted NTFS 64K, labelled SQLData — SQL data / log files go here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AWS API access only via VPC interface endpoints — the DB subnet has no NAT / IGW route (by design)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04 · VPN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Client CIDR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10.200.0.0/22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63724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63724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Federated SAML — Entra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15768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Transport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715768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UDP 443 (no TCP fallback)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7811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Split tunnel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067811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Enabled — only VPC traffic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5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Target networks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19855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pri-ec1a · pri-ec1c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71899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Route / authorization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71899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Whole VPC /24 · all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23943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23943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CloudWatch — 90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63040"/>
            <a:ext cx="53492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Site-to-Site VPN (optional)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103120"/>
            <a:ext cx="4800600" cy="2286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Created only when the client supplies CustomerGatewayIp + OnPremCidr (add-only stack update)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Customer gateway ipsec.1 · static routing · BGP ASN 65000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Routes propagated to the private and DB route tables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Tunnel configuration downloaded from the VPC console and shared with the on-prem team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If the race site moves (new public IP), the tunnel is replaced and re-configured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09160"/>
            <a:ext cx="11201400" cy="105156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SAML values for the client's Entra ID Enterprise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Identifier: urn:amazon:webservices:clientvpn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008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Reply URL: https://self-service.clientvpn.amazonaws.com/api/auth/sso/saml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7199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Sign-on URL: http://127.0.0.1:35001 (loopback)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05 ·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CloudFormation stack hmsg-rac-prd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CAPABILITY_NAMED_IAM required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NoEcho sysadm password → Secrets Manager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Site-to-Site VPN added later via a second deploy — no downtime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RDP via Client VPN to the private IP (sysadm)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SSM Session Manager as backup path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 public IP — internet reachable from VPC only through NAT (private subnets)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sysadm password rotation: change on host first, then update the secret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Flow logs → S3; Client VPN logs → CloudWatch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AWS API access from the DB subnet only via VPC endpoints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Client VPN user management → HMGRS after handover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62356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All temporary implementation IAM permissions are removed at project completion.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06 · CLOSE-OUT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Deliverables (this folder)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Architecture Design Document — PPTX (Week 1)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Infrastructure Resource Inventory — XLSX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Administration Guide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Backup · MSSQL EC2 Recovery · VPN Configuration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Project Completion Checklist — XLSX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Week 1 — review &amp; approve the architecture deck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Client — create Entra ID app and send Federation Metadata XML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issue / import ACM certificate, deploy the stack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stage SQL media and hand the host over for SQL installation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Close-out — handover docs, remove temporary access, sign-off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Version-controlled in the project repository (main) · generated 19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