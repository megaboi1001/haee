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E4887"/>
                </a:solidFill>
              </a:rPr>
              <a:t>HMSG WEC Racing PRD Architecture Design</a:t>
            </a:r>
          </a:p>
          <a:p>
            <a:pPr>
              <a:defRPr sz="1200">
                <a:solidFill>
                  <a:srgbClr val="6E6E6E"/>
                </a:solidFill>
              </a:defRPr>
            </a:pPr>
            <a:r>
              <a:t>HMSG WEC Racing PRD | eu-central-1 | Week 1 deliverable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5303520" cy="21031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defRPr sz="1800">
                <a:solidFill>
                  <a:srgbClr val="2D2D2D"/>
                </a:solidFill>
              </a:defRPr>
            </a:pPr>
            <a:r>
              <a:t>Secure access to one Windows EC2 host for SQL Server installation by the client</a:t>
            </a:r>
          </a:p>
          <a:p>
            <a:pPr>
              <a:defRPr sz="1800">
                <a:solidFill>
                  <a:srgbClr val="2D2D2D"/>
                </a:solidFill>
              </a:defRPr>
            </a:pPr>
            <a:r>
              <a:t>AWS Client VPN for developers (SAML / Entra ID)</a:t>
            </a:r>
          </a:p>
          <a:p>
            <a:pPr>
              <a:defRPr sz="1800">
                <a:solidFill>
                  <a:srgbClr val="2D2D2D"/>
                </a:solidFill>
              </a:defRPr>
            </a:pPr>
            <a:r>
              <a:t>Optional Site-to-Site IPsec VPN to the on-premise Hyundai racing site</a:t>
            </a:r>
          </a:p>
          <a:p>
            <a:pPr>
              <a:defRPr sz="1800">
                <a:solidFill>
                  <a:srgbClr val="2D2D2D"/>
                </a:solidFill>
              </a:defRPr>
            </a:pPr>
            <a:r>
              <a:t>Private-by-default design: no public IP on the DB host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92240" y="1005840"/>
            <a:ext cx="5120640" cy="1005840"/>
          </a:xfrm>
          <a:prstGeom prst="roundRect">
            <a:avLst/>
          </a:prstGeom>
          <a:solidFill>
            <a:srgbClr val="D8E8F8"/>
          </a:solidFill>
          <a:ln>
            <a:solidFill>
              <a:srgbClr val="0E4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D2D2D"/>
                </a:solidFill>
              </a:rPr>
              <a:t>1 EC2 MSSQL host
+ Client VPN + Site-to-Site VPN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2240280"/>
            <a:ext cx="2377440" cy="914400"/>
          </a:xfrm>
          <a:prstGeom prst="roundRect">
            <a:avLst/>
          </a:prstGeom>
          <a:solidFill>
            <a:srgbClr val="E6F2FF"/>
          </a:solidFill>
          <a:ln>
            <a:solidFill>
              <a:srgbClr val="0E4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D2D2D"/>
                </a:solidFill>
              </a:rPr>
              <a:t>VPC
172.200.0.0/24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89720" y="2240280"/>
            <a:ext cx="2423160" cy="914400"/>
          </a:xfrm>
          <a:prstGeom prst="roundRect">
            <a:avLst/>
          </a:prstGeom>
          <a:solidFill>
            <a:srgbClr val="E6F2FF"/>
          </a:solidFill>
          <a:ln>
            <a:solidFill>
              <a:srgbClr val="0E4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D2D2D"/>
                </a:solidFill>
              </a:rPr>
              <a:t>eu-central-1
Frankfurt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3474720"/>
            <a:ext cx="5120640" cy="914400"/>
          </a:xfrm>
          <a:prstGeom prst="roundRect">
            <a:avLst/>
          </a:prstGeom>
          <a:solidFill>
            <a:srgbClr val="F6F1E5"/>
          </a:solidFill>
          <a:ln>
            <a:solidFill>
              <a:srgbClr val="0E4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17B0D"/>
                </a:solidFill>
              </a:rPr>
              <a:t>Deliverables: architecture deck, inventory, admin guide, recovery/VPN runbook, completion checklist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E4887"/>
                </a:solidFill>
              </a:rPr>
              <a:t>Requirements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5486400" cy="51206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defRPr sz="1800">
                <a:solidFill>
                  <a:srgbClr val="2D2D2D"/>
                </a:solidFill>
              </a:defRPr>
            </a:pPr>
            <a:r>
              <a:t>One Windows Server 2022 EC2 instance (m7i.2xlarge)</a:t>
            </a:r>
          </a:p>
          <a:p>
            <a:pPr>
              <a:defRPr sz="1800">
                <a:solidFill>
                  <a:srgbClr val="2D2D2D"/>
                </a:solidFill>
              </a:defRPr>
            </a:pPr>
            <a:r>
              <a:t>Client installs SQL Server on the EC2 host</a:t>
            </a:r>
          </a:p>
          <a:p>
            <a:pPr>
              <a:defRPr sz="1800">
                <a:solidFill>
                  <a:srgbClr val="2D2D2D"/>
                </a:solidFill>
              </a:defRPr>
            </a:pPr>
            <a:r>
              <a:t>Developers connect through AWS Client VPN and RDP to the private host</a:t>
            </a:r>
          </a:p>
          <a:p>
            <a:pPr>
              <a:defRPr sz="1800">
                <a:solidFill>
                  <a:srgbClr val="2D2D2D"/>
                </a:solidFill>
              </a:defRPr>
            </a:pPr>
            <a:r>
              <a:t>On-prem connectivity via Site-to-Site VPN when the client supplies the gateway IP and on-prem CIDR</a:t>
            </a:r>
          </a:p>
          <a:p>
            <a:pPr>
              <a:defRPr sz="1800">
                <a:solidFill>
                  <a:srgbClr val="2D2D2D"/>
                </a:solidFill>
              </a:defRPr>
            </a:pPr>
            <a:r>
              <a:t>Microsoft Entra ID SSO for VPN authentication is client-side responsibility</a:t>
            </a:r>
          </a:p>
          <a:p>
            <a:pPr>
              <a:defRPr sz="1800">
                <a:solidFill>
                  <a:srgbClr val="2D2D2D"/>
                </a:solidFill>
              </a:defRPr>
            </a:pPr>
            <a:r>
              <a:t>All deliverables are due by project completion, except the architecture deck (Week 1)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097280"/>
            <a:ext cx="5212080" cy="731520"/>
          </a:xfrm>
          <a:prstGeom prst="roundRect">
            <a:avLst/>
          </a:prstGeom>
          <a:solidFill>
            <a:srgbClr val="E6F2FF"/>
          </a:solidFill>
          <a:ln>
            <a:solidFill>
              <a:srgbClr val="0E4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D2D2D"/>
                </a:solidFill>
              </a:rPr>
              <a:t>Key inputs from the client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46520" y="1828800"/>
            <a:ext cx="5029200" cy="34747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defRPr sz="1800">
                <a:solidFill>
                  <a:srgbClr val="2D2D2D"/>
                </a:solidFill>
              </a:defRPr>
            </a:pPr>
            <a:r>
              <a:t>CustomerGatewayIp and OnPremCidr</a:t>
            </a:r>
          </a:p>
          <a:p>
            <a:pPr>
              <a:defRPr sz="1800">
                <a:solidFill>
                  <a:srgbClr val="2D2D2D"/>
                </a:solidFill>
              </a:defRPr>
            </a:pPr>
            <a:r>
              <a:t>Entra ID Federation Metadata XML</a:t>
            </a:r>
          </a:p>
          <a:p>
            <a:pPr>
              <a:defRPr sz="1800">
                <a:solidFill>
                  <a:srgbClr val="2D2D2D"/>
                </a:solidFill>
              </a:defRPr>
            </a:pPr>
            <a:r>
              <a:t>ACM certificate path (public DNS or imported certificate)</a:t>
            </a:r>
          </a:p>
          <a:p>
            <a:pPr>
              <a:defRPr sz="1800">
                <a:solidFill>
                  <a:srgbClr val="2D2D2D"/>
                </a:solidFill>
              </a:defRPr>
            </a:pPr>
            <a:r>
              <a:t>VPN user/group assignment policy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E4887"/>
                </a:solidFill>
              </a:rPr>
              <a:t>Target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417320"/>
            <a:ext cx="2011680" cy="914400"/>
          </a:xfrm>
          <a:prstGeom prst="roundRect">
            <a:avLst/>
          </a:prstGeom>
          <a:solidFill>
            <a:srgbClr val="F3F7FB"/>
          </a:solidFill>
          <a:ln>
            <a:solidFill>
              <a:srgbClr val="0E4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2D2D2D"/>
                </a:solidFill>
              </a:rPr>
              <a:t>Remote users
Dev laptops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788920"/>
            <a:ext cx="2011680" cy="960120"/>
          </a:xfrm>
          <a:prstGeom prst="roundRect">
            <a:avLst/>
          </a:prstGeom>
          <a:solidFill>
            <a:srgbClr val="E3F0FC"/>
          </a:solidFill>
          <a:ln>
            <a:solidFill>
              <a:srgbClr val="0E4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2D2D2D"/>
                </a:solidFill>
              </a:rPr>
              <a:t>AWS Client VPN
UDP 443 + SAML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46920" y="2103120"/>
            <a:ext cx="2148840" cy="1051560"/>
          </a:xfrm>
          <a:prstGeom prst="roundRect">
            <a:avLst/>
          </a:prstGeom>
          <a:solidFill>
            <a:srgbClr val="F3F7FB"/>
          </a:solidFill>
          <a:ln>
            <a:solidFill>
              <a:srgbClr val="0E4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2D2D2D"/>
                </a:solidFill>
              </a:rPr>
              <a:t>On-prem Hyundai
racing site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1234440"/>
            <a:ext cx="6492240" cy="4297680"/>
          </a:xfrm>
          <a:prstGeom prst="rect">
            <a:avLst/>
          </a:prstGeom>
          <a:solidFill>
            <a:srgbClr val="FAFAFA"/>
          </a:solidFill>
          <a:ln>
            <a:solidFill>
              <a:srgbClr val="0E4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971800" y="1554480"/>
            <a:ext cx="6035040" cy="822960"/>
          </a:xfrm>
          <a:prstGeom prst="roundRect">
            <a:avLst/>
          </a:prstGeom>
          <a:solidFill>
            <a:srgbClr val="EAF3FC"/>
          </a:solidFill>
          <a:ln>
            <a:solidFill>
              <a:srgbClr val="6E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2D2D2D"/>
                </a:solidFill>
              </a:rPr>
              <a:t>Public subnets
172.200.0.0/27 + 172.200.0.32/27
NAT gateway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2697480"/>
            <a:ext cx="6035040" cy="822960"/>
          </a:xfrm>
          <a:prstGeom prst="roundRect">
            <a:avLst/>
          </a:prstGeom>
          <a:solidFill>
            <a:srgbClr val="F2F8E9"/>
          </a:solidFill>
          <a:ln>
            <a:solidFill>
              <a:srgbClr val="6E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2D2D2D"/>
                </a:solidFill>
              </a:rPr>
              <a:t>Private subnets
172.200.0.64/27 + 172.200.0.96/27
Client VPN target networks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3840480"/>
            <a:ext cx="6035040" cy="822960"/>
          </a:xfrm>
          <a:prstGeom prst="roundRect">
            <a:avLst/>
          </a:prstGeom>
          <a:solidFill>
            <a:srgbClr val="FCEFEF"/>
          </a:solidFill>
          <a:ln>
            <a:solidFill>
              <a:srgbClr val="6E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2D2D2D"/>
                </a:solidFill>
              </a:rPr>
              <a:t>DB subnets
172.200.0.128/27 + 172.200.0.160/27
Windows EC2 MSSQL host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800" y="4800600"/>
            <a:ext cx="1920240" cy="502920"/>
          </a:xfrm>
          <a:prstGeom prst="roundRect">
            <a:avLst/>
          </a:prstGeom>
          <a:solidFill>
            <a:srgbClr val="E6F2FF"/>
          </a:solidFill>
          <a:ln>
            <a:solidFill>
              <a:srgbClr val="0E4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D2D2D"/>
                </a:solidFill>
              </a:rPr>
              <a:t>Secrets Manager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83480" y="4800600"/>
            <a:ext cx="1828800" cy="502920"/>
          </a:xfrm>
          <a:prstGeom prst="roundRect">
            <a:avLst/>
          </a:prstGeom>
          <a:solidFill>
            <a:srgbClr val="E6F2FF"/>
          </a:solidFill>
          <a:ln>
            <a:solidFill>
              <a:srgbClr val="0E4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D2D2D"/>
                </a:solidFill>
              </a:rPr>
              <a:t>SSM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4800600"/>
            <a:ext cx="2057400" cy="502920"/>
          </a:xfrm>
          <a:prstGeom prst="roundRect">
            <a:avLst/>
          </a:prstGeom>
          <a:solidFill>
            <a:srgbClr val="E6F2FF"/>
          </a:solidFill>
          <a:ln>
            <a:solidFill>
              <a:srgbClr val="0E4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D2D2D"/>
                </a:solidFill>
              </a:rPr>
              <a:t>Flow logs / CloudWatch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77440" y="1874519"/>
            <a:ext cx="365760" cy="0"/>
          </a:xfrm>
          <a:prstGeom prst="line">
            <a:avLst/>
          </a:prstGeom>
          <a:ln w="25400">
            <a:solidFill>
              <a:srgbClr val="0E48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377440" y="3291840"/>
            <a:ext cx="365760" cy="0"/>
          </a:xfrm>
          <a:prstGeom prst="line">
            <a:avLst/>
          </a:prstGeom>
          <a:ln w="25400">
            <a:solidFill>
              <a:srgbClr val="0E48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235440" y="2743200"/>
            <a:ext cx="411480" cy="0"/>
          </a:xfrm>
          <a:prstGeom prst="line">
            <a:avLst/>
          </a:prstGeom>
          <a:ln w="25400">
            <a:solidFill>
              <a:srgbClr val="0E48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943600" y="4434840"/>
            <a:ext cx="2011679" cy="0"/>
          </a:xfrm>
          <a:prstGeom prst="line">
            <a:avLst/>
          </a:prstGeom>
          <a:ln w="25400">
            <a:solidFill>
              <a:srgbClr val="0E48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2920" y="5623560"/>
            <a:ext cx="10972800" cy="8229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defRPr sz="1200">
                <a:solidFill>
                  <a:srgbClr val="2D2D2D"/>
                </a:solidFill>
              </a:defRPr>
            </a:pPr>
            <a:r>
              <a:t>Client VPN provides developer access; Site-to-Site VPN is optional and added only when the on-prem values are supplied.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E4887"/>
                </a:solidFill>
              </a:rPr>
              <a:t>Network and Security Design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05840"/>
            <a:ext cx="5303520" cy="594360"/>
          </a:xfrm>
          <a:prstGeom prst="roundRect">
            <a:avLst/>
          </a:prstGeom>
          <a:solidFill>
            <a:srgbClr val="E6F2FF"/>
          </a:solidFill>
          <a:ln>
            <a:solidFill>
              <a:srgbClr val="0E4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2D2D2D"/>
                </a:solidFill>
              </a:rPr>
              <a:t>Security 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846320" cy="32004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defRPr sz="1800">
                <a:solidFill>
                  <a:srgbClr val="2D2D2D"/>
                </a:solidFill>
              </a:defRPr>
            </a:pPr>
            <a:r>
              <a:t>Client VPN SG: UDP 443 inbound from 0.0.0.0/0</a:t>
            </a:r>
          </a:p>
          <a:p>
            <a:pPr>
              <a:defRPr sz="1800">
                <a:solidFill>
                  <a:srgbClr val="2D2D2D"/>
                </a:solidFill>
              </a:defRPr>
            </a:pPr>
            <a:r>
              <a:t>Common SG: RDP 3389 from ClientVpnCidr; optional on-prem rule via S2S VPN</a:t>
            </a:r>
          </a:p>
          <a:p>
            <a:pPr>
              <a:defRPr sz="1800">
                <a:solidFill>
                  <a:srgbClr val="2D2D2D"/>
                </a:solidFill>
              </a:defRPr>
            </a:pPr>
            <a:r>
              <a:t>MSSQL SG: 1433 from ClientVpnCidr; optional on-prem rule via S2S VPN</a:t>
            </a:r>
          </a:p>
          <a:p>
            <a:pPr>
              <a:defRPr sz="1800">
                <a:solidFill>
                  <a:srgbClr val="2D2D2D"/>
                </a:solidFill>
              </a:defRPr>
            </a:pPr>
            <a:r>
              <a:t>VpcEndpoint SG: 443 from VpcCidr only</a:t>
            </a:r>
          </a:p>
          <a:p>
            <a:pPr>
              <a:defRPr sz="1800">
                <a:solidFill>
                  <a:srgbClr val="2D2D2D"/>
                </a:solidFill>
              </a:defRPr>
            </a:pPr>
            <a:r>
              <a:t>EC2 has no public IP and no direct internet route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05840"/>
            <a:ext cx="5303520" cy="594360"/>
          </a:xfrm>
          <a:prstGeom prst="roundRect">
            <a:avLst/>
          </a:prstGeom>
          <a:solidFill>
            <a:srgbClr val="E6F2FF"/>
          </a:solidFill>
          <a:ln>
            <a:solidFill>
              <a:srgbClr val="0E4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2D2D2D"/>
                </a:solidFill>
              </a:rPr>
              <a:t>Routing and logging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737360"/>
            <a:ext cx="4800600" cy="32004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defRPr sz="1800">
                <a:solidFill>
                  <a:srgbClr val="2D2D2D"/>
                </a:solidFill>
              </a:defRPr>
            </a:pPr>
            <a:r>
              <a:t>Public route table → IGW</a:t>
            </a:r>
          </a:p>
          <a:p>
            <a:pPr>
              <a:defRPr sz="1800">
                <a:solidFill>
                  <a:srgbClr val="2D2D2D"/>
                </a:solidFill>
              </a:defRPr>
            </a:pPr>
            <a:r>
              <a:t>Private route table → NAT gateway</a:t>
            </a:r>
          </a:p>
          <a:p>
            <a:pPr>
              <a:defRPr sz="1800">
                <a:solidFill>
                  <a:srgbClr val="2D2D2D"/>
                </a:solidFill>
              </a:defRPr>
            </a:pPr>
            <a:r>
              <a:t>DB route table → no NAT/IGW; AWS API access only through VPC endpoints</a:t>
            </a:r>
          </a:p>
          <a:p>
            <a:pPr>
              <a:defRPr sz="1800">
                <a:solidFill>
                  <a:srgbClr val="2D2D2D"/>
                </a:solidFill>
              </a:defRPr>
            </a:pPr>
            <a:r>
              <a:t>VPC flow logs go to S3 with lifecycle expiry</a:t>
            </a:r>
          </a:p>
          <a:p>
            <a:pPr>
              <a:defRPr sz="1800">
                <a:solidFill>
                  <a:srgbClr val="2D2D2D"/>
                </a:solidFill>
              </a:defRPr>
            </a:pPr>
            <a:r>
              <a:t>Client VPN logs go to CloudWatch Logs with 90-day retention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E4887"/>
                </a:solidFill>
              </a:rPr>
              <a:t>VPN Design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05840"/>
            <a:ext cx="5212080" cy="548640"/>
          </a:xfrm>
          <a:prstGeom prst="roundRect">
            <a:avLst/>
          </a:prstGeom>
          <a:solidFill>
            <a:srgbClr val="E3F0FC"/>
          </a:solidFill>
          <a:ln>
            <a:solidFill>
              <a:srgbClr val="0E4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2D2D2D"/>
                </a:solidFill>
              </a:rPr>
              <a:t>Client VPN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4663440" cy="32918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defRPr sz="1800">
                <a:solidFill>
                  <a:srgbClr val="2D2D2D"/>
                </a:solidFill>
              </a:defRPr>
            </a:pPr>
            <a:r>
              <a:t>Client CIDR: 10.200.0.0/22</a:t>
            </a:r>
          </a:p>
          <a:p>
            <a:pPr>
              <a:defRPr sz="1800">
                <a:solidFill>
                  <a:srgbClr val="2D2D2D"/>
                </a:solidFill>
              </a:defRPr>
            </a:pPr>
            <a:r>
              <a:t>Authentication: Federated SAML via Entra ID</a:t>
            </a:r>
          </a:p>
          <a:p>
            <a:pPr>
              <a:defRPr sz="1800">
                <a:solidFill>
                  <a:srgbClr val="2D2D2D"/>
                </a:solidFill>
              </a:defRPr>
            </a:pPr>
            <a:r>
              <a:t>Transport: UDP 443</a:t>
            </a:r>
          </a:p>
          <a:p>
            <a:pPr>
              <a:defRPr sz="1800">
                <a:solidFill>
                  <a:srgbClr val="2D2D2D"/>
                </a:solidFill>
              </a:defRPr>
            </a:pPr>
            <a:r>
              <a:t>Split tunnel enabled</a:t>
            </a:r>
          </a:p>
          <a:p>
            <a:pPr>
              <a:defRPr sz="1800">
                <a:solidFill>
                  <a:srgbClr val="2D2D2D"/>
                </a:solidFill>
              </a:defRPr>
            </a:pPr>
            <a:r>
              <a:t>Target networks: PriSubnetA and PriSubnetC</a:t>
            </a:r>
          </a:p>
          <a:p>
            <a:pPr>
              <a:defRPr sz="1800">
                <a:solidFill>
                  <a:srgbClr val="2D2D2D"/>
                </a:solidFill>
              </a:defRPr>
            </a:pPr>
            <a:r>
              <a:t>Authorization: all groups to the whole VPC CIDR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005840"/>
            <a:ext cx="5212080" cy="548640"/>
          </a:xfrm>
          <a:prstGeom prst="roundRect">
            <a:avLst/>
          </a:prstGeom>
          <a:solidFill>
            <a:srgbClr val="FCEFEF"/>
          </a:solidFill>
          <a:ln>
            <a:solidFill>
              <a:srgbClr val="0E4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2D2D2D"/>
                </a:solidFill>
              </a:rPr>
              <a:t>Site-to-Site VPN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91640"/>
            <a:ext cx="4663440" cy="32918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defRPr sz="1800">
                <a:solidFill>
                  <a:srgbClr val="2D2D2D"/>
                </a:solidFill>
              </a:defRPr>
            </a:pPr>
            <a:r>
              <a:t>Conditional: created only when CustomerGatewayIp and OnPremCidr are supplied</a:t>
            </a:r>
          </a:p>
          <a:p>
            <a:pPr>
              <a:defRPr sz="1800">
                <a:solidFill>
                  <a:srgbClr val="2D2D2D"/>
                </a:solidFill>
              </a:defRPr>
            </a:pPr>
            <a:r>
              <a:t>Customer gateway type: ipsec.1</a:t>
            </a:r>
          </a:p>
          <a:p>
            <a:pPr>
              <a:defRPr sz="1800">
                <a:solidFill>
                  <a:srgbClr val="2D2D2D"/>
                </a:solidFill>
              </a:defRPr>
            </a:pPr>
            <a:r>
              <a:t>Static routing only</a:t>
            </a:r>
          </a:p>
          <a:p>
            <a:pPr>
              <a:defRPr sz="1800">
                <a:solidFill>
                  <a:srgbClr val="2D2D2D"/>
                </a:solidFill>
              </a:defRPr>
            </a:pPr>
            <a:r>
              <a:t>Routes propagated to private and DB route tables</a:t>
            </a:r>
          </a:p>
          <a:p>
            <a:pPr>
              <a:defRPr sz="1800">
                <a:solidFill>
                  <a:srgbClr val="2D2D2D"/>
                </a:solidFill>
              </a:defRPr>
            </a:pPr>
            <a:r>
              <a:t>Use the VPC console to download the tunnel configuration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E4887"/>
                </a:solidFill>
              </a:rPr>
              <a:t>Next Steps / Deliverables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5486400" cy="53035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defRPr sz="1800">
                <a:solidFill>
                  <a:srgbClr val="2D2D2D"/>
                </a:solidFill>
              </a:defRPr>
            </a:pPr>
            <a:r>
              <a:t>Week 1: finalize this architecture deck with the client</a:t>
            </a:r>
          </a:p>
          <a:p>
            <a:pPr>
              <a:defRPr sz="1800">
                <a:solidFill>
                  <a:srgbClr val="2D2D2D"/>
                </a:solidFill>
              </a:defRPr>
            </a:pPr>
            <a:r>
              <a:t>Project completion: resource inventory Excel, admin guide, recovery/VPN guide, completion checklist</a:t>
            </a:r>
          </a:p>
          <a:p>
            <a:pPr>
              <a:defRPr sz="1800">
                <a:solidFill>
                  <a:srgbClr val="2D2D2D"/>
                </a:solidFill>
              </a:defRPr>
            </a:pPr>
            <a:r>
              <a:t>Client tasks: Entra ID app, Federation Metadata XML, and VPN user management</a:t>
            </a:r>
          </a:p>
          <a:p>
            <a:pPr>
              <a:defRPr sz="1800">
                <a:solidFill>
                  <a:srgbClr val="2D2D2D"/>
                </a:solidFill>
              </a:defRPr>
            </a:pPr>
            <a:r>
              <a:t>HMSG tasks: deploy CloudFormation, issue/import ACM cert, and hand over operational docs</a:t>
            </a:r>
          </a:p>
          <a:p>
            <a:pPr>
              <a:defRPr sz="1800">
                <a:solidFill>
                  <a:srgbClr val="2D2D2D"/>
                </a:solidFill>
              </a:defRPr>
            </a:pPr>
            <a:r>
              <a:t>Remove temporary implementation IAM access at project close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097280"/>
            <a:ext cx="4754880" cy="1828800"/>
          </a:xfrm>
          <a:prstGeom prst="roundRect">
            <a:avLst/>
          </a:prstGeom>
          <a:solidFill>
            <a:srgbClr val="F6F1E5"/>
          </a:solidFill>
          <a:ln>
            <a:solidFill>
              <a:srgbClr val="0E4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D17B0D"/>
                </a:solidFill>
              </a:rPr>
              <a:t>Deliverables Folder
PPTX + Excel + DOCX
Prepared from the current CloudFormation stack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