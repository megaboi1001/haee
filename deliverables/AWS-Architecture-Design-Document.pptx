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" y="-18288"/>
            <a:ext cx="12234672" cy="6894576"/>
          </a:xfrm>
          <a:prstGeom prst="rect">
            <a:avLst/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234672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0AAD2"/>
                </a:solidFill>
                <a:latin typeface="Calibri"/>
              </a:rPr>
              <a:t>PRD · AWS ARCHITECTURE DESIGN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HMSG WEC 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 i="0">
                <a:solidFill>
                  <a:srgbClr val="D8E4F0"/>
                </a:solidFill>
                <a:latin typeface="Calibri"/>
              </a:rPr>
              <a:t>Windows MSSQL host · AWS Client VPN (SAML / Entra ID) · Site-to-Site VPN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002C5F"/>
                </a:solidFill>
                <a:latin typeface="Calibri"/>
              </a:rPr>
              <a:t>eu-central-1 · Frankfurt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6576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002C5F"/>
                </a:solidFill>
                <a:latin typeface="Calibri"/>
              </a:rPr>
              <a:t>Stack hmsg-rac-prd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3657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DF3E7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200" b="1" i="0">
                <a:solidFill>
                  <a:srgbClr val="002C5F"/>
                </a:solidFill>
                <a:latin typeface="Calibri"/>
              </a:rPr>
              <a:t>Week 1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9FB4C8"/>
                </a:solidFill>
                <a:latin typeface="Calibri"/>
              </a:rPr>
              <a:t>Prepared by the HAEE Cloud Team · 19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0AAD2"/>
                </a:solidFill>
                <a:latin typeface="Calibr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 i="0">
                <a:solidFill>
                  <a:srgbClr val="002C5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70432"/>
            <a:ext cx="155448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868680" cy="621792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28216"/>
            <a:ext cx="8778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 i="0">
                <a:solidFill>
                  <a:srgbClr val="002C5F"/>
                </a:solidFill>
                <a:latin typeface="Calibri"/>
              </a:rPr>
              <a:t>Requirements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7088" y="2167128"/>
            <a:ext cx="8778240" cy="12801"/>
          </a:xfrm>
          <a:prstGeom prst="rect">
            <a:avLst/>
          </a:prstGeom>
          <a:solidFill>
            <a:srgbClr val="BF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350008"/>
            <a:ext cx="868680" cy="621792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78024"/>
            <a:ext cx="8778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 i="0">
                <a:solidFill>
                  <a:srgbClr val="002C5F"/>
                </a:solidFill>
                <a:latin typeface="Calibri"/>
              </a:rPr>
              <a:t>Target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7088" y="2916936"/>
            <a:ext cx="8778240" cy="12801"/>
          </a:xfrm>
          <a:prstGeom prst="rect">
            <a:avLst/>
          </a:prstGeom>
          <a:solidFill>
            <a:srgbClr val="BF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099815"/>
            <a:ext cx="868680" cy="621792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27832"/>
            <a:ext cx="8778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 i="0">
                <a:solidFill>
                  <a:srgbClr val="002C5F"/>
                </a:solidFill>
                <a:latin typeface="Calibri"/>
              </a:rPr>
              <a:t>Network &amp; security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7088" y="3666744"/>
            <a:ext cx="8778240" cy="12801"/>
          </a:xfrm>
          <a:prstGeom prst="rect">
            <a:avLst/>
          </a:prstGeom>
          <a:solidFill>
            <a:srgbClr val="BF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849624"/>
            <a:ext cx="868680" cy="621792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77639"/>
            <a:ext cx="8778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 i="0">
                <a:solidFill>
                  <a:srgbClr val="002C5F"/>
                </a:solidFill>
                <a:latin typeface="Calibri"/>
              </a:rPr>
              <a:t>VPN design — Client VPN · Site-to-Site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7088" y="4416552"/>
            <a:ext cx="8778240" cy="12801"/>
          </a:xfrm>
          <a:prstGeom prst="rect">
            <a:avLst/>
          </a:prstGeom>
          <a:solidFill>
            <a:srgbClr val="BF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599432"/>
            <a:ext cx="868680" cy="621792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27448"/>
            <a:ext cx="8778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 i="0">
                <a:solidFill>
                  <a:srgbClr val="002C5F"/>
                </a:solidFill>
                <a:latin typeface="Calibri"/>
              </a:rPr>
              <a:t>Deployment &amp; 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7088" y="5166360"/>
            <a:ext cx="8778240" cy="12801"/>
          </a:xfrm>
          <a:prstGeom prst="rect">
            <a:avLst/>
          </a:prstGeom>
          <a:solidFill>
            <a:srgbClr val="BF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5349240"/>
            <a:ext cx="868680" cy="621792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77256"/>
            <a:ext cx="8778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 i="0">
                <a:solidFill>
                  <a:srgbClr val="002C5F"/>
                </a:solidFill>
                <a:latin typeface="Calibri"/>
              </a:rPr>
              <a:t>Deliverables &amp; next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7088" y="5916168"/>
            <a:ext cx="8778240" cy="12801"/>
          </a:xfrm>
          <a:prstGeom prst="rect">
            <a:avLst/>
          </a:prstGeom>
          <a:solidFill>
            <a:srgbClr val="BFC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HMSG WEC Racing · hmsg-rac-prd · eu-central-1 (Frankfurt)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9AA7B4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0AAD2"/>
                </a:solidFill>
                <a:latin typeface="Calibri"/>
              </a:rPr>
              <a:t>01 ·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 i="0">
                <a:solidFill>
                  <a:srgbClr val="002C5F"/>
                </a:solidFill>
                <a:latin typeface="Calibri"/>
              </a:rPr>
              <a:t>Requirements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70432"/>
            <a:ext cx="155448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77840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577840" cy="146304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02C5F"/>
                </a:solidFill>
                <a:latin typeface="Calibri"/>
              </a:rPr>
              <a:t>Scope of this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029200" cy="2468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One Windows Server 2022 EC2 instance — m7i.2xlarge (8 vCPU / 32 GiB)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Root 250 GB + data 4 TB (D: · NTFS · 64K) — SQL Server installed by the client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No public IP and no internet egress on the DB host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Private access only: Client VPN for developers, optional Site-to-Site VPN for on-prem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63040"/>
            <a:ext cx="5349240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49240" cy="146304"/>
          </a:xfrm>
          <a:prstGeom prst="roundRect">
            <a:avLst>
              <a:gd name="adj" fmla="val 50000"/>
            </a:avLst>
          </a:prstGeom>
          <a:solidFill>
            <a:srgbClr val="00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27632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02C5F"/>
                </a:solidFill>
                <a:latin typeface="Calibri"/>
              </a:rPr>
              <a:t>Client-side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846320" cy="2468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Microsoft Entra ID Enterprise Application (SAML federation)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Entra ID Federation Metadata XML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CustomerGatewayIp + OnPremCidr (enables the Site-to-Site VPN)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SQL Server installation on the EC2 host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350" b="0" i="0">
                <a:solidFill>
                  <a:srgbClr val="595959"/>
                </a:solidFill>
                <a:latin typeface="Calibri"/>
              </a:rPr>
              <a:t>VPN user management after handover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29200"/>
            <a:ext cx="11201400" cy="1234440"/>
          </a:xfrm>
          <a:prstGeom prst="roundRect">
            <a:avLst>
              <a:gd name="adj" fmla="val 9000"/>
            </a:avLst>
          </a:prstGeom>
          <a:solidFill>
            <a:srgbClr val="FDF3E7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38928"/>
            <a:ext cx="106984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002C5F"/>
                </a:solidFill>
                <a:latin typeface="Calibri"/>
              </a:rPr>
              <a:t>Constraints &amp;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9824"/>
            <a:ext cx="10698480" cy="777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595959"/>
                </a:solidFill>
                <a:latin typeface="Calibri"/>
              </a:rPr>
              <a:t>VPC 172.200.0.0/24 is not RFC1918 private space — confirm with the client, or deploy with 172.20.0.0/24 instead.</a:t>
            </a:r>
          </a:p>
          <a:p>
            <a:pPr marL="182880" indent="-182880">
              <a:spcAft>
                <a:spcPts val="200"/>
              </a:spcAft>
              <a:buFont typeface="Arial"/>
              <a:buChar char="•"/>
            </a:pPr>
            <a:r>
              <a:rPr sz="1150" b="0" i="0">
                <a:solidFill>
                  <a:srgbClr val="595959"/>
                </a:solidFill>
                <a:latin typeface="Calibri"/>
              </a:rPr>
              <a:t>Up to 10 developers access via Client VPN · Entra ID MFA is the client tenant's 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HMSG WEC Racing · hmsg-rac-prd · eu-central-1 (Frankfurt)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9AA7B4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0AAD2"/>
                </a:solidFill>
                <a:latin typeface="Calibri"/>
              </a:rPr>
              <a:t>02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 i="0">
                <a:solidFill>
                  <a:srgbClr val="002C5F"/>
                </a:solidFill>
                <a:latin typeface="Calibri"/>
              </a:rPr>
              <a:t>Target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70432"/>
            <a:ext cx="155448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80360" y="1371600"/>
            <a:ext cx="6355080" cy="4526280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9050">
            <a:solidFill>
              <a:srgbClr val="002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40" y="142646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002C5F"/>
                </a:solidFill>
                <a:latin typeface="Calibri"/>
              </a:rPr>
              <a:t>AWS Cloud · VPC hmsg-rac-prd-vpc-ec1 — 172.200.0.0/24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47088"/>
            <a:ext cx="5989320" cy="621792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2002536"/>
            <a:ext cx="5669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02C5F"/>
                </a:solidFill>
                <a:latin typeface="Calibri"/>
              </a:rPr>
              <a:t>PUBLIC · pub-ec1a / pub-ec1c — NAT gateway + Elastic 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670048"/>
            <a:ext cx="5989320" cy="621792"/>
          </a:xfrm>
          <a:prstGeom prst="roundRect">
            <a:avLst>
              <a:gd name="adj" fmla="val 12000"/>
            </a:avLst>
          </a:prstGeom>
          <a:solidFill>
            <a:srgbClr val="EAF6EA"/>
          </a:solidFill>
          <a:ln w="12700">
            <a:solidFill>
              <a:srgbClr val="1E84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825496"/>
            <a:ext cx="5669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02C5F"/>
                </a:solidFill>
                <a:latin typeface="Calibri"/>
              </a:rPr>
              <a:t>PRIVATE · pri-ec1a / pri-ec1c — Client VPN target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493008"/>
            <a:ext cx="5989320" cy="621792"/>
          </a:xfrm>
          <a:prstGeom prst="roundRect">
            <a:avLst>
              <a:gd name="adj" fmla="val 12000"/>
            </a:avLst>
          </a:prstGeom>
          <a:solidFill>
            <a:srgbClr val="FDF3E7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648456"/>
            <a:ext cx="5669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002C5F"/>
                </a:solidFill>
                <a:latin typeface="Calibri"/>
              </a:rPr>
              <a:t>DB · db-ec1a / db-ec1c — MSSQL host (m7i.2xlarge)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590288"/>
            <a:ext cx="603504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VPC interface endpoints (Secrets Manager · SSM · SSM Messages · EC2 Messages)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4864608"/>
            <a:ext cx="1426464" cy="457200"/>
          </a:xfrm>
          <a:prstGeom prst="roundRect">
            <a:avLst>
              <a:gd name="adj" fmla="val 50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 i="0">
                <a:solidFill>
                  <a:srgbClr val="002C5F"/>
                </a:solidFill>
                <a:latin typeface="Calibri"/>
              </a:rPr>
              <a:t>Secrets 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1144" y="4864608"/>
            <a:ext cx="1426464" cy="457200"/>
          </a:xfrm>
          <a:prstGeom prst="roundRect">
            <a:avLst>
              <a:gd name="adj" fmla="val 50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 i="0">
                <a:solidFill>
                  <a:srgbClr val="002C5F"/>
                </a:solidFill>
                <a:latin typeface="Calibri"/>
              </a:rPr>
              <a:t>SSM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4864608"/>
            <a:ext cx="1426464" cy="457200"/>
          </a:xfrm>
          <a:prstGeom prst="roundRect">
            <a:avLst>
              <a:gd name="adj" fmla="val 50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 i="0">
                <a:solidFill>
                  <a:srgbClr val="002C5F"/>
                </a:solidFill>
                <a:latin typeface="Calibri"/>
              </a:rPr>
              <a:t>CloudWatch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6952" y="4864608"/>
            <a:ext cx="1426464" cy="457200"/>
          </a:xfrm>
          <a:prstGeom prst="roundRect">
            <a:avLst>
              <a:gd name="adj" fmla="val 50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1100" b="1" i="0">
                <a:solidFill>
                  <a:srgbClr val="002C5F"/>
                </a:solidFill>
                <a:latin typeface="Calibri"/>
              </a:rPr>
              <a:t>S3 — flow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5468112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9AA7B4"/>
                </a:solidFill>
                <a:latin typeface="Calibri"/>
              </a:rPr>
              <a:t>Flow logs → S3 (lifecycle 30d → Glacier, expire 1y) · Client VPN logs → CloudWatch (90d)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37744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487168"/>
            <a:ext cx="21031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02C5F"/>
                </a:solidFill>
                <a:latin typeface="Calibri"/>
              </a:rPr>
              <a:t>On-prem racing 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78892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Hyundai firewall</a:t>
            </a:r>
          </a:p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IPsec.1 · static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3035808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VGW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55480" y="2862072"/>
            <a:ext cx="155448" cy="292608"/>
          </a:xfrm>
          <a:prstGeom prst="line">
            <a:avLst/>
          </a:prstGeom>
          <a:ln w="2222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464040" y="3429000"/>
            <a:ext cx="23774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9AA7B4"/>
                </a:solidFill>
                <a:latin typeface="Calibri"/>
              </a:rPr>
              <a:t>Site-to-Site VPN</a:t>
            </a:r>
          </a:p>
          <a:p>
            <a:pPr algn="l"/>
            <a:r>
              <a:rPr sz="1000" b="0" i="0">
                <a:solidFill>
                  <a:srgbClr val="9AA7B4"/>
                </a:solidFill>
                <a:latin typeface="Calibri"/>
              </a:rPr>
              <a:t>only when on-prem values are supplied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92024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029968"/>
            <a:ext cx="1783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02C5F"/>
                </a:solidFill>
                <a:latin typeface="Calibri"/>
              </a:rPr>
              <a:t>Developers (≤10)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33172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Entra ID SSO · MFA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9184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401568"/>
            <a:ext cx="1783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02C5F"/>
                </a:solidFill>
                <a:latin typeface="Calibri"/>
              </a:rPr>
              <a:t>AWS Client VPN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703320"/>
            <a:ext cx="17830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UDP 443 · SAML</a:t>
            </a:r>
          </a:p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split tunnel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63040" y="2743200"/>
            <a:ext cx="0" cy="548640"/>
          </a:xfrm>
          <a:prstGeom prst="line">
            <a:avLst/>
          </a:prstGeom>
          <a:ln w="22225">
            <a:solidFill>
              <a:srgbClr val="002C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468880" y="2999232"/>
            <a:ext cx="594360" cy="795528"/>
          </a:xfrm>
          <a:prstGeom prst="line">
            <a:avLst/>
          </a:prstGeom>
          <a:ln w="25400">
            <a:solidFill>
              <a:srgbClr val="002C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00200" y="3611880"/>
            <a:ext cx="1554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UDP 443</a:t>
            </a:r>
          </a:p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SAML SSO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HMSG WEC Racing · hmsg-rac-prd · eu-central-1 (Frankfurt)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9AA7B4"/>
                </a:solidFill>
                <a:latin typeface="Calibr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0AAD2"/>
                </a:solidFill>
                <a:latin typeface="Calibri"/>
              </a:rPr>
              <a:t>03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 i="0">
                <a:solidFill>
                  <a:srgbClr val="002C5F"/>
                </a:solidFill>
                <a:latin typeface="Calibri"/>
              </a:rPr>
              <a:t>Network &amp; security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70432"/>
            <a:ext cx="155448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377440" cy="502920"/>
          </a:xfrm>
          <a:prstGeom prst="roundRect">
            <a:avLst>
              <a:gd name="adj" fmla="val 35000"/>
            </a:avLst>
          </a:prstGeom>
          <a:solidFill>
            <a:srgbClr val="E8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72768"/>
            <a:ext cx="2103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02C5F"/>
                </a:solidFill>
                <a:latin typeface="Calibri"/>
              </a:rPr>
              <a:t>Client VPN 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2057400" cy="12344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595959"/>
                </a:solidFill>
                <a:latin typeface="Calibri"/>
              </a:rPr>
              <a:t>UDP 443 in — 0.0.0.0/0 (endpoint must be reachable)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595959"/>
                </a:solidFill>
                <a:latin typeface="Calibri"/>
              </a:rPr>
              <a:t>egress 3389 / 1433 → VPC CIDR (tunnel traffic)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46304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1463040"/>
            <a:ext cx="2377440" cy="502920"/>
          </a:xfrm>
          <a:prstGeom prst="roundRect">
            <a:avLst>
              <a:gd name="adj" fmla="val 35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572768"/>
            <a:ext cx="2103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02C5F"/>
                </a:solidFill>
                <a:latin typeface="Calibri"/>
              </a:rPr>
              <a:t>Common SG — RDP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21408"/>
            <a:ext cx="2057400" cy="12344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595959"/>
                </a:solidFill>
                <a:latin typeface="Calibri"/>
              </a:rPr>
              <a:t>TCP 3389 in — 10.200.0.0/22 (Client VPN)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595959"/>
                </a:solidFill>
                <a:latin typeface="Calibri"/>
              </a:rPr>
              <a:t>optional: on-prem CIDR via Site-to-Site VPN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46304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5000" y="1463040"/>
            <a:ext cx="2377440" cy="502920"/>
          </a:xfrm>
          <a:prstGeom prst="roundRect">
            <a:avLst>
              <a:gd name="adj" fmla="val 3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9592" y="1572768"/>
            <a:ext cx="2103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02C5F"/>
                </a:solidFill>
                <a:latin typeface="Calibri"/>
              </a:rPr>
              <a:t>MSSQL SG — 1433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121408"/>
            <a:ext cx="2057400" cy="12344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595959"/>
                </a:solidFill>
                <a:latin typeface="Calibri"/>
              </a:rPr>
              <a:t>TCP 1433 in — 10.200.0.0/22 (Client VPN)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595959"/>
                </a:solidFill>
                <a:latin typeface="Calibri"/>
              </a:rPr>
              <a:t>optional: on-prem CIDR via Site-to-Site VPN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463040"/>
            <a:ext cx="2377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463040"/>
            <a:ext cx="2377440" cy="502920"/>
          </a:xfrm>
          <a:prstGeom prst="roundRect">
            <a:avLst>
              <a:gd name="adj" fmla="val 35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572768"/>
            <a:ext cx="2103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002C5F"/>
                </a:solidFill>
                <a:latin typeface="Calibri"/>
              </a:rPr>
              <a:t>VPC endpoint 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121408"/>
            <a:ext cx="2057400" cy="12344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595959"/>
                </a:solidFill>
                <a:latin typeface="Calibri"/>
              </a:rPr>
              <a:t>TCP 443 in — VPC CIDR only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050" b="0" i="0">
                <a:solidFill>
                  <a:srgbClr val="595959"/>
                </a:solidFill>
                <a:latin typeface="Calibri"/>
              </a:rPr>
              <a:t>Response traffic to endpoint ENIs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11201400" cy="2011680"/>
          </a:xfrm>
          <a:prstGeom prst="roundRect">
            <a:avLst>
              <a:gd name="adj" fmla="val 5000"/>
            </a:avLst>
          </a:prstGeom>
          <a:solidFill>
            <a:srgbClr val="F2F7FB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86200"/>
            <a:ext cx="106070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002C5F"/>
                </a:solidFill>
                <a:latin typeface="Calibri"/>
              </a:rPr>
              <a:t>EC2 hardening &amp;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24528"/>
            <a:ext cx="10607040" cy="1417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595959"/>
                </a:solidFill>
                <a:latin typeface="Calibri"/>
              </a:rPr>
              <a:t>EC2: IMDSv2 required · EBS volumes encrypted · no public IP · termination protected (DeletionPolicy: Retain)</a:t>
            </a:r>
          </a:p>
          <a:p>
            <a:pPr marL="182880" indent="-18288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595959"/>
                </a:solidFill>
                <a:latin typeface="Calibri"/>
              </a:rPr>
              <a:t>Windows Firewall: RDP 3389 and MSSQL 1433 pre-opened (SQL Server installed later by the client)</a:t>
            </a:r>
          </a:p>
          <a:p>
            <a:pPr marL="182880" indent="-18288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595959"/>
                </a:solidFill>
                <a:latin typeface="Calibri"/>
              </a:rPr>
              <a:t>Data volume D: formatted NTFS 64K, labelled SQLData — SQL data / log files go here</a:t>
            </a:r>
          </a:p>
          <a:p>
            <a:pPr marL="182880" indent="-182880">
              <a:spcAft>
                <a:spcPts val="300"/>
              </a:spcAft>
              <a:buFont typeface="Arial"/>
              <a:buChar char="•"/>
            </a:pPr>
            <a:r>
              <a:rPr sz="1150" b="0" i="0">
                <a:solidFill>
                  <a:srgbClr val="595959"/>
                </a:solidFill>
                <a:latin typeface="Calibri"/>
              </a:rPr>
              <a:t>AWS API access only via VPC interface endpoints — the DB subnet has no NAT / IGW route (by design)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HMSG WEC Racing · hmsg-rac-prd · eu-central-1 (Frankfurt)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9AA7B4"/>
                </a:solidFill>
                <a:latin typeface="Calibr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0AAD2"/>
                </a:solidFill>
                <a:latin typeface="Calibri"/>
              </a:rPr>
              <a:t>04 ·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 i="0">
                <a:solidFill>
                  <a:srgbClr val="002C5F"/>
                </a:solidFill>
                <a:latin typeface="Calibri"/>
              </a:rPr>
              <a:t>VPN design — Client VPN · Site-to-Site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70432"/>
            <a:ext cx="155448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7784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577840" cy="146304"/>
          </a:xfrm>
          <a:prstGeom prst="roundRect">
            <a:avLst>
              <a:gd name="adj" fmla="val 50000"/>
            </a:avLst>
          </a:prstGeom>
          <a:solidFill>
            <a:srgbClr val="00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02C5F"/>
                </a:solidFill>
                <a:latin typeface="Calibri"/>
              </a:rPr>
              <a:t>AWS Client VPN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148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7C8B99"/>
                </a:solidFill>
                <a:latin typeface="Calibri"/>
              </a:rPr>
              <a:t>Client CIDR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10.200.0.0/22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63724"/>
            <a:ext cx="2148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7C8B99"/>
                </a:solidFill>
                <a:latin typeface="Calibri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63724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Federated SAML — Entra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15768"/>
            <a:ext cx="2148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7C8B99"/>
                </a:solidFill>
                <a:latin typeface="Calibri"/>
              </a:rPr>
              <a:t>Transport /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15768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UDP 443 (no TCP fallback)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7811"/>
            <a:ext cx="2148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7C8B99"/>
                </a:solidFill>
                <a:latin typeface="Calibri"/>
              </a:rPr>
              <a:t>Split tunnel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67811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Enabled — only VPC 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19855"/>
            <a:ext cx="2148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7C8B99"/>
                </a:solidFill>
                <a:latin typeface="Calibri"/>
              </a:rPr>
              <a:t>Target networks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419855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pri-ec1a · pri-ec1c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71899"/>
            <a:ext cx="2148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7C8B99"/>
                </a:solidFill>
                <a:latin typeface="Calibri"/>
              </a:rPr>
              <a:t>Route / authorization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771899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Whole VPC /24 · all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23943"/>
            <a:ext cx="2148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7C8B99"/>
                </a:solidFill>
                <a:latin typeface="Calibri"/>
              </a:rPr>
              <a:t>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123943"/>
            <a:ext cx="2834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CloudWatch — 90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463040"/>
            <a:ext cx="534924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463040"/>
            <a:ext cx="5349240" cy="14630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627632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02C5F"/>
                </a:solidFill>
                <a:latin typeface="Calibri"/>
              </a:rPr>
              <a:t>Site-to-Site VPN (optional)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103120"/>
            <a:ext cx="4800600" cy="2286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Created only when the client supplies CustomerGatewayIp + OnPremCidr (add-only stack update)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Customer gateway ipsec.1 · static routing · BGP ASN 65000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Routes propagated to the private and DB route tables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Tunnel configuration downloaded from the VPC console and shared with the on-prem team</a:t>
            </a:r>
          </a:p>
          <a:p>
            <a:pPr marL="182880" indent="-18288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If the race site moves (new public IP), the tunnel is replaced and re-configured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09160"/>
            <a:ext cx="11201400" cy="1051560"/>
          </a:xfrm>
          <a:prstGeom prst="roundRect">
            <a:avLst>
              <a:gd name="adj" fmla="val 8000"/>
            </a:avLst>
          </a:prstGeom>
          <a:solidFill>
            <a:srgbClr val="E8F4FA"/>
          </a:solidFill>
          <a:ln w="12700">
            <a:solidFill>
              <a:srgbClr val="007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10607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>
                <a:solidFill>
                  <a:srgbClr val="002C5F"/>
                </a:solidFill>
                <a:latin typeface="Calibri"/>
              </a:rPr>
              <a:t>SAML values for the client's Entra ID Enterprise Application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193792"/>
            <a:ext cx="3352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Identifier: urn:amazon:webservices:clientvpn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50080" y="5193792"/>
            <a:ext cx="3352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Reply URL: https://self-service.clientvpn.amazonaws.com/api/auth/sso/saml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7199" y="5193792"/>
            <a:ext cx="3352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/>
          <a:lstStyle/>
          <a:p>
            <a:pPr algn="ctr"/>
            <a:r>
              <a:rPr sz="950" b="0" i="0">
                <a:solidFill>
                  <a:srgbClr val="595959"/>
                </a:solidFill>
                <a:latin typeface="Calibri"/>
              </a:rPr>
              <a:t>Sign-on URL: http://127.0.0.1:35001 (loopback)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HMSG WEC Racing · hmsg-rac-prd · eu-central-1 (Frankfurt)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9AA7B4"/>
                </a:solidFill>
                <a:latin typeface="Calibr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0AAD2"/>
                </a:solidFill>
                <a:latin typeface="Calibri"/>
              </a:rPr>
              <a:t>05 ·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 i="0">
                <a:solidFill>
                  <a:srgbClr val="002C5F"/>
                </a:solidFill>
                <a:latin typeface="Calibri"/>
              </a:rPr>
              <a:t>Deployment &amp;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70432"/>
            <a:ext cx="155448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52044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520440" cy="502920"/>
          </a:xfrm>
          <a:prstGeom prst="roundRect">
            <a:avLst>
              <a:gd name="adj" fmla="val 35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3108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971800" cy="3017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CloudFormation stack hmsg-rac-prd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CAPABILITY_NAMED_IAM required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NoEcho sysadm password → Secrets Manager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Site-to-Site VPN added later via a second deploy — no downtime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63040"/>
            <a:ext cx="352044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463040"/>
            <a:ext cx="3520440" cy="502920"/>
          </a:xfrm>
          <a:prstGeom prst="roundRect">
            <a:avLst>
              <a:gd name="adj" fmla="val 35000"/>
            </a:avLst>
          </a:prstGeom>
          <a:solidFill>
            <a:srgbClr val="00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72768"/>
            <a:ext cx="3108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2971800" cy="3017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RDP via Client VPN to the private IP (sysadm)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SSM Session Manager as backup path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No public IP — internet reachable from VPC only through NAT (private subnets)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63040"/>
            <a:ext cx="352044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01000" y="1463040"/>
            <a:ext cx="3520440" cy="502920"/>
          </a:xfrm>
          <a:prstGeom prst="roundRect">
            <a:avLst>
              <a:gd name="adj" fmla="val 3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72768"/>
            <a:ext cx="3108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2971800" cy="30175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sysadm password rotation: change on host first, then update the secret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Flow logs → S3; Client VPN logs → CloudWatch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AWS API access from the DB subnet only via VPC endpoints</a:t>
            </a:r>
          </a:p>
          <a:p>
            <a:pPr marL="182880" indent="-182880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595959"/>
                </a:solidFill>
                <a:latin typeface="Calibri"/>
              </a:rPr>
              <a:t>Client VPN user management → HMGRS after handover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23560"/>
            <a:ext cx="11201400" cy="548640"/>
          </a:xfrm>
          <a:prstGeom prst="roundRect">
            <a:avLst>
              <a:gd name="adj" fmla="val 25000"/>
            </a:avLst>
          </a:prstGeom>
          <a:solidFill>
            <a:srgbClr val="FDF3E7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002C5F"/>
                </a:solidFill>
                <a:latin typeface="Calibri"/>
              </a:rPr>
              <a:t>All temporary implementation IAM permissions are removed at project completion.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HMSG WEC Racing · hmsg-rac-prd · eu-central-1 (Frankfurt)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9AA7B4"/>
                </a:solidFill>
                <a:latin typeface="Calibr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0AAD2"/>
                </a:solidFill>
                <a:latin typeface="Calibri"/>
              </a:rPr>
              <a:t>06 · CLOSE-OUT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900" b="1" i="0">
                <a:solidFill>
                  <a:srgbClr val="002C5F"/>
                </a:solidFill>
                <a:latin typeface="Calibri"/>
              </a:rPr>
              <a:t>Deliverables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170432"/>
            <a:ext cx="155448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57784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577840" cy="146304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02C5F"/>
                </a:solidFill>
                <a:latin typeface="Calibri"/>
              </a:rPr>
              <a:t>Deliverables (this folder)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029200" cy="2743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AWS Architecture Design Document — PPTX (Week 1)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AWS Infrastructure Resource Inventory — XLSX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Administration Guide — DOCX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Backup · MSSQL EC2 Recovery · VPN Configuration — DOCX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Project Completion Checklist — XLSX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63040"/>
            <a:ext cx="534924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FC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49240" cy="146304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27632"/>
            <a:ext cx="48463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002C5F"/>
                </a:solidFill>
                <a:latin typeface="Calibri"/>
              </a:rP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846320" cy="2743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Week 1 — review &amp; approve the architecture deck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Client — create Entra ID app and send Federation Metadata XML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HMSG — issue / import ACM certificate, deploy the stack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HMSG — stage SQL media and hand the host over for SQL installation</a:t>
            </a:r>
          </a:p>
          <a:p>
            <a:pPr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595959"/>
                </a:solidFill>
                <a:latin typeface="Calibri"/>
              </a:rPr>
              <a:t>Close-out — handover docs, remove temporary access,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9AA7B4"/>
                </a:solidFill>
                <a:latin typeface="Calibri"/>
              </a:rPr>
              <a:t>Version-controlled in the project repository (main) · generated 19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HMSG WEC Racing · hmsg-rac-prd · eu-central-1 (Frankfurt)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73952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9AA7B4"/>
                </a:solidFill>
                <a:latin typeface="Calibr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